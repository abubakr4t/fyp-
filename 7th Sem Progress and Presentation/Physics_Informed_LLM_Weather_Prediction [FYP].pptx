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3" r:id="rId16"/>
    <p:sldId id="274" r:id="rId17"/>
    <p:sldId id="271" r:id="rId18"/>
    <p:sldId id="272" r:id="rId19"/>
    <p:sldId id="275" r:id="rId20"/>
    <p:sldId id="276" r:id="rId21"/>
    <p:sldId id="293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  <p:sldId id="292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4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Department of CS&amp;AI</a:t>
            </a:r>
          </a:p>
          <a:p>
            <a:pPr algn="r">
              <a:defRPr sz="1000">
                <a:solidFill>
                  <a:srgbClr val="003366"/>
                </a:solidFill>
              </a:defRPr>
            </a:pPr>
            <a:r>
              <a:t>University of Sargodha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Physics-Informed LLM for</a:t>
            </a: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Weather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Team Members:</a:t>
            </a:r>
          </a:p>
          <a:p>
            <a:pPr algn="ctr">
              <a:defRPr sz="1400">
                <a:solidFill>
                  <a:srgbClr val="404040"/>
                </a:solidFill>
              </a:defRPr>
            </a:pPr>
            <a:r>
              <a:t>Muhammad Zeeshan Asif (BSCS51F22S017)</a:t>
            </a:r>
          </a:p>
          <a:p>
            <a:pPr algn="ctr">
              <a:defRPr sz="1400">
                <a:solidFill>
                  <a:srgbClr val="404040"/>
                </a:solidFill>
              </a:defRPr>
            </a:pPr>
            <a:r>
              <a:t>Muhammad Awais Ilyas (BSCS51F22S018)</a:t>
            </a:r>
          </a:p>
          <a:p>
            <a:pPr algn="ctr">
              <a:defRPr sz="1400">
                <a:solidFill>
                  <a:srgbClr val="404040"/>
                </a:solidFill>
              </a:defRPr>
            </a:pPr>
            <a:r>
              <a:t>Muhammad Abubakar (BSCS51F22S026)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Supervisor: Dr. Fahad Maqbool</a:t>
            </a:r>
          </a:p>
          <a:p>
            <a:pPr algn="ctr">
              <a:defRPr sz="1200">
                <a:solidFill>
                  <a:srgbClr val="404040"/>
                </a:solidFill>
              </a:defRPr>
            </a:pPr>
            <a:r>
              <a:t>Project Manager: Dr. Muhammad Ilyas</a:t>
            </a:r>
          </a:p>
          <a:p>
            <a:pPr algn="ctr">
              <a:defRPr sz="1200">
                <a:solidFill>
                  <a:srgbClr val="404040"/>
                </a:solidFill>
              </a:defRPr>
            </a:pPr>
            <a:r>
              <a:t>2nd Supervisor: Miss Anum Saleem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Traditional Weather Prediction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Definition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Collects atmospheric data and processes it using physical or statistical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Output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Raw numerical values (temperature, pressure, rainfall, wind speed)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Limitation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Requires expert interpretation - not accessible to non-technical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Components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Data Collection → Preprocessing → Forecasting Model → Numeric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Motivation &amp; 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Weather Prediction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Critical Applications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Agriculture, disaster management, aviation, and policy planning rely on accurate forecasts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Economic Impact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Forecast inaccuracies lead to significant economic losses and operational inefficiencies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Safety Concerns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Increased risks to public safety from extreme weather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Decision Support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Essential for risk assessment, early warnings, and data-driven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Interpretability Gap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Weather models output raw numerical data that non-technical stakeholders (farmers, planners, emergency responders) find difficult to interpret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Emergency Limitations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Existing forecasting systems struggle to provide fast and reliable forecasts during emergencies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Physics Violations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Pure ML models may produce physically inconsistent predictions that violate atmospheric laws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Computational Cost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Traditional NWP models require hours on supercomputers, too slow for real-time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Literature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Literature Review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5544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NWP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1188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t>Solve physical atmospheric equations for accurate forecasts but require high computational resources (hours on supercomputers)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5544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26080"/>
            <a:ext cx="1188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t>Learn complex non-linear relationships in data enabling faster short-term forecasts but may violate physics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15544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Hybrid NWP-ML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26080"/>
            <a:ext cx="1188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t>Combine NWP outputs with ML to correct systematic errors and improve accuracy while reducing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15544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LLMs in Weather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1188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t>Transform complex numerical outputs into human-readable insights, improving accessibility for non-experts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Research Gap &amp; Research Question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Identified Research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5544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NWP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11887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rPr dirty="0"/>
              <a:t>Ensures physical consistency but suffers from high computational latency (6 hours)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5544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ML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26080"/>
            <a:ext cx="11887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rPr dirty="0"/>
              <a:t>Computationally efficient but may produce physically inconsistent predictions (75% validity)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15544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LLM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26080"/>
            <a:ext cx="118872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rPr dirty="0"/>
              <a:t>Human-friendly and interpretable but lack direct grounding in physical laws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15544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No Unified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4183" y="2926080"/>
            <a:ext cx="130179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rPr dirty="0"/>
              <a:t>No existing system combines speed + accuracy + physics + interpretability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Can we design a hybrid system that ensures physical consistency, computational efficiency, and interpretability for non-technical users?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How can physics constraints be embedded in neural networks for weather prediction?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Can LLMs accurately translate numerical forecasts into natural language explanations?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• What is the trade-off between prediction accuracy and computational efficiency?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Our Hybrid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45687"/>
            <a:ext cx="2834640" cy="8463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rPr dirty="0"/>
              <a:t>Component 1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rPr lang="en-US" dirty="0"/>
              <a:t>Physics Constraints </a:t>
            </a:r>
            <a:r>
              <a:rPr dirty="0"/>
              <a:t>- Embed governing equations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Component 2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LSTM + Transformer - Learn temporal patterns and long-range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Component 3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Large Language Models (LLMs) - Generate human-readable explanations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Integration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Seamless pipeline combining all three components for optimal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Develop short-term (1-3 days) Pakistan weather forecasting system with 85% extreme event detection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Reduce computational cost: &lt;10ms inference vs 6 hours NWP (2,000,000x faster)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Ensure predictions follow physical laws: 98% physics validity vs 75% pure ML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Achieve 28% better temperature accuracy than traditional NWP (2.0°C MAE vs 2.8°C)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Convert numerical forecasts into natural language explanations using LLM (English &amp; Urdu)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Enable continuous learning: Automatic retraining every 30 days with new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Why Large Language Models?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Role of Large Language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Translation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Convert raw numerical outputs (42.3°C, 0.2mm precipitation) into readable summaries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Explanation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Provide physics-based reasoning: 'This heatwave is driven by subsiding air and clear skies'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Accessibility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Make forecasts understandable for non-technical users (farmers, emergency responders)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Interaction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Enable Q&amp;A: Users can ask 'Why is it hot?' and get detailed meteorological explanations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1276" y="2743200"/>
            <a:ext cx="458144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54360"/>
                </a:solidFill>
              </a:defRPr>
            </a:pPr>
            <a:r>
              <a:rPr lang="en-US" sz="4400" dirty="0">
                <a:solidFill>
                  <a:schemeClr val="bg1"/>
                </a:solidFill>
              </a:rPr>
              <a:t>Physics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1281" y="457200"/>
            <a:ext cx="33814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54360"/>
                </a:solidFill>
              </a:defRPr>
            </a:pPr>
            <a:r>
              <a:rPr lang="en-US" sz="3200" dirty="0"/>
              <a:t>Physics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6852" y="1425676"/>
            <a:ext cx="2164080" cy="45228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39732" y="1657719"/>
            <a:ext cx="1798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4360"/>
                </a:solidFill>
              </a:defRPr>
            </a:pPr>
            <a:r>
              <a:rPr lang="en-US" sz="1400" dirty="0"/>
              <a:t>Physics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0233" y="2015380"/>
            <a:ext cx="17983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100" dirty="0"/>
              <a:t>Hard Constraints: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100" dirty="0"/>
              <a:t>Temperature bounds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100" dirty="0"/>
              <a:t>Humidity limits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100" dirty="0"/>
              <a:t>Non-negative precipitation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100" dirty="0"/>
              <a:t>Pressure bounds</a:t>
            </a:r>
          </a:p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100" dirty="0"/>
              <a:t>Soft Constraints: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100" dirty="0"/>
              <a:t>Clausius-Clapeyron relation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100" dirty="0"/>
              <a:t>Energy conservation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100" dirty="0"/>
              <a:t>Hydrostatic balance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100" dirty="0"/>
              <a:t>Moisture-precipitation coupling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32207" y="1425676"/>
            <a:ext cx="2164080" cy="45228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915087" y="1657719"/>
            <a:ext cx="1798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rPr sz="1400" dirty="0"/>
              <a:t>Loss Function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635A5D-A6B6-CBD1-57C2-6210C99DF7B1}"/>
              </a:ext>
            </a:extLst>
          </p:cNvPr>
          <p:cNvSpPr txBox="1"/>
          <p:nvPr/>
        </p:nvSpPr>
        <p:spPr>
          <a:xfrm>
            <a:off x="5915087" y="2011680"/>
            <a:ext cx="179832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/>
              <a:t>Total Loss:</a:t>
            </a:r>
          </a:p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 err="1"/>
              <a:t>L_total</a:t>
            </a:r>
            <a:r>
              <a:rPr lang="en-US" sz="1400" dirty="0"/>
              <a:t> = </a:t>
            </a:r>
            <a:r>
              <a:rPr lang="en-US" sz="1400" dirty="0" err="1"/>
              <a:t>L_data</a:t>
            </a:r>
            <a:r>
              <a:rPr lang="en-US" sz="1400" dirty="0"/>
              <a:t> + λ × </a:t>
            </a:r>
            <a:r>
              <a:rPr lang="en-US" sz="1400" dirty="0" err="1"/>
              <a:t>L_physics</a:t>
            </a:r>
            <a:endParaRPr lang="en-US" sz="1400" dirty="0"/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400" dirty="0" err="1"/>
              <a:t>L_data</a:t>
            </a:r>
            <a:r>
              <a:rPr lang="en-US" sz="1400" dirty="0"/>
              <a:t> →prediction accuracy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400" dirty="0" err="1"/>
              <a:t>L_physics</a:t>
            </a:r>
            <a:r>
              <a:rPr lang="en-US" sz="1400" dirty="0"/>
              <a:t> → physical law violations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sz="1400" dirty="0"/>
              <a:t>λ controls physics influence</a:t>
            </a:r>
          </a:p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/>
              <a:t>Forces model toward physically plausible predictions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Implementation Details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Sources &amp; 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554480" cy="3333135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ERA5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5544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rPr dirty="0"/>
              <a:t>Hourly reanalysis data from 1979-present, 0.25° resolution, Multiple atmospheric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554480" cy="3333135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26080"/>
            <a:ext cx="15544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rPr dirty="0"/>
              <a:t>Temperature, Pressure, Humidity, Wind (</a:t>
            </a:r>
            <a:r>
              <a:rPr dirty="0" err="1"/>
              <a:t>u,v</a:t>
            </a:r>
            <a:r>
              <a:rPr dirty="0"/>
              <a:t>), Precipitation, Cloud cover, Solar radiation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1554480" cy="3333135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1665" y="2011680"/>
            <a:ext cx="14748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rPr dirty="0"/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1665" y="2926080"/>
            <a:ext cx="147483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rPr dirty="0"/>
              <a:t>Grid reduction for Pakistan region (24-38°N, 61-78°E), Normalization and quality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1554480" cy="3333135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15544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rPr dirty="0"/>
              <a:t>80% training, 10% validation, 10% testing (chronological split)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83D9841D-8F22-E390-1BD5-699D417FA7A3}"/>
              </a:ext>
            </a:extLst>
          </p:cNvPr>
          <p:cNvSpPr txBox="1"/>
          <p:nvPr/>
        </p:nvSpPr>
        <p:spPr>
          <a:xfrm>
            <a:off x="-665056" y="168032"/>
            <a:ext cx="10705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600" b="1">
                <a:solidFill>
                  <a:srgbClr val="154360"/>
                </a:solidFill>
              </a:defRPr>
            </a:pPr>
            <a:r>
              <a:rPr lang="en-US" sz="2000" dirty="0">
                <a:solidFill>
                  <a:srgbClr val="003366"/>
                </a:solidFill>
              </a:rPr>
              <a:t>Complete Prediction Pipeline</a:t>
            </a:r>
          </a:p>
        </p:txBody>
      </p:sp>
      <p:sp>
        <p:nvSpPr>
          <p:cNvPr id="35" name="Rounded Rectangle 6">
            <a:extLst>
              <a:ext uri="{FF2B5EF4-FFF2-40B4-BE49-F238E27FC236}">
                <a16:creationId xmlns:a16="http://schemas.microsoft.com/office/drawing/2014/main" id="{A4661D37-5ACA-C35D-D21C-5DF734261D3C}"/>
              </a:ext>
            </a:extLst>
          </p:cNvPr>
          <p:cNvSpPr/>
          <p:nvPr/>
        </p:nvSpPr>
        <p:spPr>
          <a:xfrm>
            <a:off x="3789611" y="732849"/>
            <a:ext cx="1554480" cy="1049508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rgbClr val="00336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400" b="1" dirty="0">
                <a:solidFill>
                  <a:srgbClr val="0033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Input: </a:t>
            </a:r>
          </a:p>
          <a:p>
            <a:pPr algn="ctr"/>
            <a:r>
              <a:rPr lang="en-US" sz="1400" dirty="0">
                <a:solidFill>
                  <a:srgbClr val="0033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Weather variables (T, P, H, Wind)</a:t>
            </a:r>
          </a:p>
          <a:p>
            <a:pPr algn="ctr"/>
            <a:endParaRPr sz="1400" dirty="0"/>
          </a:p>
        </p:txBody>
      </p:sp>
      <p:sp>
        <p:nvSpPr>
          <p:cNvPr id="36" name="Rounded Rectangle 6">
            <a:extLst>
              <a:ext uri="{FF2B5EF4-FFF2-40B4-BE49-F238E27FC236}">
                <a16:creationId xmlns:a16="http://schemas.microsoft.com/office/drawing/2014/main" id="{18848A12-7182-45C3-F485-EA4FCCDFF844}"/>
              </a:ext>
            </a:extLst>
          </p:cNvPr>
          <p:cNvSpPr/>
          <p:nvPr/>
        </p:nvSpPr>
        <p:spPr>
          <a:xfrm>
            <a:off x="869240" y="2124850"/>
            <a:ext cx="7637078" cy="3333135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090C49EF-12BD-5445-FD9E-21DF692BD895}"/>
              </a:ext>
            </a:extLst>
          </p:cNvPr>
          <p:cNvSpPr/>
          <p:nvPr/>
        </p:nvSpPr>
        <p:spPr>
          <a:xfrm>
            <a:off x="1417785" y="2438538"/>
            <a:ext cx="1554480" cy="1049508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/>
              <a:t>Physics-based feature engineering</a:t>
            </a: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E3B4502F-1DC6-F57D-21FB-5D3F259CA6FE}"/>
              </a:ext>
            </a:extLst>
          </p:cNvPr>
          <p:cNvSpPr/>
          <p:nvPr/>
        </p:nvSpPr>
        <p:spPr>
          <a:xfrm>
            <a:off x="3789611" y="2438538"/>
            <a:ext cx="1554480" cy="1049508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/>
              <a:t>Physics constraint definition</a:t>
            </a:r>
          </a:p>
        </p:txBody>
      </p:sp>
      <p:sp>
        <p:nvSpPr>
          <p:cNvPr id="39" name="Rounded Rectangle 6">
            <a:extLst>
              <a:ext uri="{FF2B5EF4-FFF2-40B4-BE49-F238E27FC236}">
                <a16:creationId xmlns:a16="http://schemas.microsoft.com/office/drawing/2014/main" id="{6BB04ABD-6CF6-9EE2-81CB-C87B991E4DAF}"/>
              </a:ext>
            </a:extLst>
          </p:cNvPr>
          <p:cNvSpPr/>
          <p:nvPr/>
        </p:nvSpPr>
        <p:spPr>
          <a:xfrm>
            <a:off x="6161437" y="2438538"/>
            <a:ext cx="1554480" cy="1049508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/>
              <a:t>Hybrid model training</a:t>
            </a:r>
          </a:p>
        </p:txBody>
      </p:sp>
      <p:sp>
        <p:nvSpPr>
          <p:cNvPr id="40" name="Rounded Rectangle 6">
            <a:extLst>
              <a:ext uri="{FF2B5EF4-FFF2-40B4-BE49-F238E27FC236}">
                <a16:creationId xmlns:a16="http://schemas.microsoft.com/office/drawing/2014/main" id="{37F4CABC-5344-7D80-CC49-E3F208DEB7D8}"/>
              </a:ext>
            </a:extLst>
          </p:cNvPr>
          <p:cNvSpPr/>
          <p:nvPr/>
        </p:nvSpPr>
        <p:spPr>
          <a:xfrm>
            <a:off x="2798573" y="3971376"/>
            <a:ext cx="1554480" cy="1049508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/>
              <a:t>Physics validation &amp; correction</a:t>
            </a:r>
          </a:p>
        </p:txBody>
      </p:sp>
      <p:sp>
        <p:nvSpPr>
          <p:cNvPr id="41" name="Rounded Rectangle 6">
            <a:extLst>
              <a:ext uri="{FF2B5EF4-FFF2-40B4-BE49-F238E27FC236}">
                <a16:creationId xmlns:a16="http://schemas.microsoft.com/office/drawing/2014/main" id="{0B816F16-4C0F-493F-636B-A7E7A9BCF57A}"/>
              </a:ext>
            </a:extLst>
          </p:cNvPr>
          <p:cNvSpPr/>
          <p:nvPr/>
        </p:nvSpPr>
        <p:spPr>
          <a:xfrm>
            <a:off x="5226909" y="3971376"/>
            <a:ext cx="1554480" cy="1049508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/>
              <a:t>LLM-based explanation &amp; reasoning</a:t>
            </a:r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id="{D701EB4A-7E63-4A0A-C504-D92B2813CCDA}"/>
              </a:ext>
            </a:extLst>
          </p:cNvPr>
          <p:cNvSpPr/>
          <p:nvPr/>
        </p:nvSpPr>
        <p:spPr>
          <a:xfrm>
            <a:off x="3789611" y="5651949"/>
            <a:ext cx="1554480" cy="1049508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/>
              <a:t>Final output: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400" dirty="0"/>
              <a:t>Prediction + Confidence + Insights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CB4E10-D49D-9BDD-CF86-F28FD8BFF40E}"/>
              </a:ext>
            </a:extLst>
          </p:cNvPr>
          <p:cNvSpPr txBox="1"/>
          <p:nvPr/>
        </p:nvSpPr>
        <p:spPr>
          <a:xfrm>
            <a:off x="457200" y="6283461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BAAB640-F717-00E6-0D0D-C07C4380C079}"/>
              </a:ext>
            </a:extLst>
          </p:cNvPr>
          <p:cNvSpPr/>
          <p:nvPr/>
        </p:nvSpPr>
        <p:spPr>
          <a:xfrm>
            <a:off x="457200" y="6198256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CE1664D-8AF3-F2C6-0B87-A05985AECB38}"/>
              </a:ext>
            </a:extLst>
          </p:cNvPr>
          <p:cNvSpPr/>
          <p:nvPr/>
        </p:nvSpPr>
        <p:spPr>
          <a:xfrm>
            <a:off x="8323438" y="6198256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5091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Model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952688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616" y="2031344"/>
            <a:ext cx="16803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600" dirty="0">
                <a:solidFill>
                  <a:srgbClr val="003366"/>
                </a:solidFill>
              </a:rPr>
              <a:t>Physics-Based Feature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688" y="3034499"/>
            <a:ext cx="2320414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C3E50"/>
                </a:solidFill>
              </a:defRPr>
            </a:pPr>
            <a:r>
              <a:rPr lang="en-US" sz="1400" dirty="0">
                <a:solidFill>
                  <a:srgbClr val="404040"/>
                </a:solidFill>
              </a:rPr>
              <a:t>Thermodynamics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C3E50"/>
                </a:solidFill>
              </a:defRPr>
            </a:pPr>
            <a:r>
              <a:rPr lang="en-US" sz="1400" dirty="0">
                <a:solidFill>
                  <a:srgbClr val="404040"/>
                </a:solidFill>
              </a:rPr>
              <a:t>Fluid dynamics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C3E50"/>
                </a:solidFill>
              </a:defRPr>
            </a:pPr>
            <a:r>
              <a:rPr lang="en-US" sz="1400" dirty="0">
                <a:solidFill>
                  <a:srgbClr val="404040"/>
                </a:solidFill>
              </a:rPr>
              <a:t>Energy Balance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45191" y="1828800"/>
            <a:ext cx="1952687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75960" y="2116723"/>
            <a:ext cx="16365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600" dirty="0">
                <a:solidFill>
                  <a:srgbClr val="003366"/>
                </a:solidFill>
              </a:rPr>
              <a:t>Physics-Constrained ML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8102" y="3029887"/>
            <a:ext cx="2113936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C3E50"/>
                </a:solidFill>
              </a:defRPr>
            </a:pPr>
            <a:r>
              <a:rPr lang="en-US" sz="1400" dirty="0">
                <a:solidFill>
                  <a:srgbClr val="404040"/>
                </a:solidFill>
              </a:rPr>
              <a:t>LSTM + Transformer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C3E50"/>
                </a:solidFill>
              </a:defRPr>
            </a:pPr>
            <a:r>
              <a:rPr lang="en-US" sz="1400" dirty="0">
                <a:solidFill>
                  <a:srgbClr val="404040"/>
                </a:solidFill>
              </a:rPr>
              <a:t>Multi-task prediction heads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C3E50"/>
                </a:solidFill>
              </a:defRPr>
            </a:pPr>
            <a:r>
              <a:rPr lang="en-US" sz="1400" dirty="0">
                <a:solidFill>
                  <a:srgbClr val="404040"/>
                </a:solidFill>
              </a:rPr>
              <a:t>Physics-informed loss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2BF22147-22D3-DAFD-59E1-4E025DF5AD5E}"/>
              </a:ext>
            </a:extLst>
          </p:cNvPr>
          <p:cNvSpPr/>
          <p:nvPr/>
        </p:nvSpPr>
        <p:spPr>
          <a:xfrm>
            <a:off x="6645625" y="1828800"/>
            <a:ext cx="1952687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2844DA-B90E-FA72-6CF8-354AC3F1DC18}"/>
              </a:ext>
            </a:extLst>
          </p:cNvPr>
          <p:cNvSpPr txBox="1"/>
          <p:nvPr/>
        </p:nvSpPr>
        <p:spPr>
          <a:xfrm>
            <a:off x="6867338" y="2134259"/>
            <a:ext cx="1636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sz="1600" dirty="0"/>
              <a:t>LLM Reasoning Layer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CCED96-3579-2227-4011-37DDD3A3F9AC}"/>
              </a:ext>
            </a:extLst>
          </p:cNvPr>
          <p:cNvSpPr txBox="1"/>
          <p:nvPr/>
        </p:nvSpPr>
        <p:spPr>
          <a:xfrm>
            <a:off x="6503052" y="3034499"/>
            <a:ext cx="2113936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C3E50"/>
                </a:solidFill>
              </a:defRPr>
            </a:pPr>
            <a:r>
              <a:rPr lang="en-US" sz="1400" dirty="0"/>
              <a:t>Interprets predictions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C3E50"/>
                </a:solidFill>
              </a:defRPr>
            </a:pPr>
            <a:r>
              <a:rPr lang="en-US" sz="1400" dirty="0"/>
              <a:t>Explains extremes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C3E50"/>
                </a:solidFill>
              </a:defRPr>
            </a:pPr>
            <a:r>
              <a:rPr lang="en-US" sz="1400" dirty="0"/>
              <a:t>Provides actionable insights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47249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US" dirty="0"/>
              <a:t>Hybrid Model Architecture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596760"/>
            <a:ext cx="7315200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dirty="0"/>
              <a:t>LSTM Encoder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dirty="0"/>
              <a:t>Captures short-term temporal patterns</a:t>
            </a:r>
          </a:p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dirty="0"/>
              <a:t>Transformer Blocks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dirty="0"/>
              <a:t>Attention-based long-range dependency learning</a:t>
            </a:r>
          </a:p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dirty="0"/>
              <a:t>Global Pooling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dirty="0"/>
              <a:t>Aggregates sequence information</a:t>
            </a:r>
          </a:p>
          <a:p>
            <a:pPr>
              <a:spcAft>
                <a:spcPts val="1000"/>
              </a:spcAft>
              <a:defRPr sz="2000" b="1">
                <a:solidFill>
                  <a:srgbClr val="2C3E50"/>
                </a:solidFill>
              </a:defRPr>
            </a:pPr>
            <a:r>
              <a:rPr lang="en-US" dirty="0"/>
              <a:t>Multi-Task Outputs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dirty="0"/>
              <a:t>Temperature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dirty="0"/>
              <a:t>Precipitation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dirty="0"/>
              <a:t>Extreme event type</a:t>
            </a:r>
          </a:p>
          <a:p>
            <a:pPr lvl="1"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rPr lang="en-US" dirty="0"/>
              <a:t>Extreme event probability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Baseline Models for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LSTM Baseline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Pure LSTM without physics constraints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CNN Baseline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Convolutional neural network for spatial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NWP Baseline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Traditional numerical weather prediction (GFS model)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Evaluation Metrics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RMSE, MAE, R², Extreme event detection accuracy, Physics validity percentage, Inference time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Results &amp; Expected Outcomes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Expected Performance Improvements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799"/>
            <a:ext cx="1188720" cy="3018503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8120" y="2011680"/>
            <a:ext cx="100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rPr dirty="0"/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1395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rPr dirty="0"/>
              <a:t>Temperature MAE: 2.0°C (vs 2.8°C NWP, 28% better)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828800"/>
            <a:ext cx="1188720" cy="3018502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71832" y="2011680"/>
            <a:ext cx="1005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rPr dirty="0"/>
              <a:t>Extreme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926080"/>
            <a:ext cx="1188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rPr dirty="0"/>
              <a:t>85% recall </a:t>
            </a:r>
            <a:endParaRPr lang="en-US" dirty="0"/>
          </a:p>
          <a:p>
            <a:pPr algn="l">
              <a:defRPr sz="1400">
                <a:solidFill>
                  <a:srgbClr val="404040"/>
                </a:solidFill>
              </a:defRPr>
            </a:pPr>
            <a:r>
              <a:rPr dirty="0"/>
              <a:t>(vs 65% NWP, 72% Pure 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828799"/>
            <a:ext cx="1188720" cy="3018502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0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26080"/>
            <a:ext cx="11887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rPr dirty="0"/>
              <a:t>&lt;10ms inference (vs 6 hours NWP, 2,000,000x faster)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828799"/>
            <a:ext cx="1188720" cy="3018501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Physics Validity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26080"/>
            <a:ext cx="1188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rPr dirty="0"/>
              <a:t>98% valid predictions (vs 75% pure ML)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828800"/>
            <a:ext cx="1188720" cy="3018502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926080"/>
            <a:ext cx="11887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rPr dirty="0"/>
              <a:t>$0.001 per prediction (vs $10 NWP, 10,000x cheaper)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System Output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Numerical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Temperature: 42.3°C ± 1.5°C, Precipitation: 0.2 mm/h, Confidence: 92%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Text Summaries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English: 'A severe heatwave expected tomorrow with 42°C', Urdu: 'کل شدید گرمی کی لہر متوقع ہے'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Visual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Temperature maps, Time series forecasts, Spatial distributions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Alerts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SMS/Email: 'Heatwave Alert: Stay hydrated, avoid outdoor activity 12-5 PM'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Sample LLM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1640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79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72119"/>
            <a:ext cx="179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rPr dirty="0"/>
              <a:t>Lahore: 42.3°C, Heatwave probability: 85%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2800" y="1828800"/>
            <a:ext cx="21640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5680" y="2011680"/>
            <a:ext cx="179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LLM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680" y="2513124"/>
            <a:ext cx="179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rPr dirty="0"/>
              <a:t>A moderate-to-severe heatwave is predicted with very high confidence (92%). This is driven by:</a:t>
            </a:r>
            <a:br>
              <a:rPr dirty="0"/>
            </a:br>
            <a:r>
              <a:rPr dirty="0"/>
              <a:t>• Strong solar heating (clear skies)</a:t>
            </a:r>
            <a:br>
              <a:rPr dirty="0"/>
            </a:br>
            <a:r>
              <a:rPr dirty="0"/>
              <a:t>• Continental air mass from southwest</a:t>
            </a:r>
            <a:br>
              <a:rPr dirty="0"/>
            </a:br>
            <a:r>
              <a:rPr dirty="0"/>
              <a:t>• Subsidence preventing cloud formation</a:t>
            </a:r>
            <a:br>
              <a:rPr dirty="0"/>
            </a:br>
            <a:r>
              <a:rPr dirty="0"/>
              <a:t>• Pre-monsoon season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91200" y="1828800"/>
            <a:ext cx="2164080" cy="4114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74080" y="2011680"/>
            <a:ext cx="179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4080" y="2542622"/>
            <a:ext cx="179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404040"/>
                </a:solidFill>
              </a:defRPr>
            </a:pPr>
            <a:r>
              <a:rPr dirty="0"/>
              <a:t>Public Health: High heat stress risk, stay hydrated</a:t>
            </a:r>
            <a:br>
              <a:rPr dirty="0"/>
            </a:br>
            <a:r>
              <a:rPr dirty="0"/>
              <a:t>Agriculture: Increase irrigation</a:t>
            </a:r>
            <a:br>
              <a:rPr dirty="0"/>
            </a:br>
            <a:r>
              <a:rPr dirty="0"/>
              <a:t>Energy: Peak demand expected 2-5 PM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Novelty &amp; Contributions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Makes Our Project Novel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39441"/>
            <a:ext cx="74066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First system combining </a:t>
            </a:r>
            <a:r>
              <a:rPr lang="en-US" dirty="0"/>
              <a:t>Novel Physics-ML-LLM hybrid </a:t>
            </a:r>
            <a:r>
              <a:rPr dirty="0"/>
              <a:t>for weather </a:t>
            </a:r>
            <a:r>
              <a:rPr lang="en-US" dirty="0"/>
              <a:t>prediction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Physics-guided AI with real-time validation layer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Extreme event focus with 85% detection (vs 65% traditional)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Bilingual natural language output (English &amp; Urdu)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Continuous learning: Retrains every 30 days with new data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Pakistan-specific optimization for local climate patterns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Multi-task architecture: 4 outputs simultaneously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dirty="0"/>
              <a:t>• Production-ready: &lt;10ms inference, low cost, interpretable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Research Contributions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Methodological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Novel integration of physics constraints with deep learning and LLM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045687"/>
            <a:ext cx="2834640" cy="8463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rPr dirty="0"/>
              <a:t>Architectural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rPr dirty="0"/>
              <a:t>LSTM-Transformer-</a:t>
            </a:r>
            <a:r>
              <a:rPr lang="en-US" dirty="0"/>
              <a:t>Novel Physics</a:t>
            </a:r>
            <a:r>
              <a:rPr dirty="0"/>
              <a:t>-LLM hybrid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Application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Extreme weather detection system for developing regions (Pakistan)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49040"/>
            <a:ext cx="3200400" cy="16459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Practical</a:t>
            </a:r>
          </a:p>
          <a:p>
            <a:pPr algn="ctr"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Real-time, low-cost, interpretable forecasting accessible to non-experts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6217920"/>
            <a:ext cx="365760" cy="365760"/>
          </a:xfrm>
          <a:prstGeom prst="ellips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217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0456"/>
            <a:ext cx="76101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lang="en-US" dirty="0"/>
              <a:t>• Successfully designed hybrid framework combining Novel Physics + ML + LLMs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lang="en-US" dirty="0"/>
              <a:t>• Ensures physical consistency (98% valid) and computational efficiency (&lt;10ms)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lang="en-US" dirty="0"/>
              <a:t>• Demonstrates feasibility of physics-informed AI for real-world weather prediction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lang="en-US" dirty="0"/>
              <a:t>• Improves accessibility through LLM-generated natural language explanations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lang="en-US" dirty="0"/>
              <a:t>• Enables better preparedness for extreme weather events in Pakistan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rPr lang="en-US" dirty="0"/>
              <a:t>• Extend to 7-day forecasts, Add more extreme event types, Deploy as mobile application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Acknowledgment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200400"/>
            <a:ext cx="2103120" cy="1371600"/>
          </a:xfrm>
          <a:prstGeom prst="roundRect">
            <a:avLst/>
          </a:prstGeom>
          <a:solidFill>
            <a:srgbClr val="E6F0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21031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3366"/>
                </a:solidFill>
              </a:defRPr>
            </a:pPr>
            <a:r>
              <a:rPr dirty="0"/>
              <a:t>Supervisor:</a:t>
            </a:r>
          </a:p>
          <a:p>
            <a:pPr algn="ctr">
              <a:defRPr sz="1400">
                <a:solidFill>
                  <a:srgbClr val="003366"/>
                </a:solidFill>
              </a:defRPr>
            </a:pPr>
            <a:r>
              <a:rPr dirty="0"/>
              <a:t>Dr. Fahad Maqbool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3200400"/>
            <a:ext cx="2103120" cy="1371600"/>
          </a:xfrm>
          <a:prstGeom prst="roundRect">
            <a:avLst/>
          </a:prstGeom>
          <a:solidFill>
            <a:srgbClr val="E6F0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3200400"/>
            <a:ext cx="21031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3366"/>
                </a:solidFill>
              </a:defRPr>
            </a:pPr>
            <a:r>
              <a:t>2nd Supervisor:</a:t>
            </a:r>
          </a:p>
          <a:p>
            <a:pPr algn="ctr">
              <a:defRPr sz="1400">
                <a:solidFill>
                  <a:srgbClr val="003366"/>
                </a:solidFill>
              </a:defRPr>
            </a:pPr>
            <a:r>
              <a:t>Miss Anum Saleem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200400"/>
            <a:ext cx="2103120" cy="1371600"/>
          </a:xfrm>
          <a:prstGeom prst="roundRect">
            <a:avLst/>
          </a:prstGeom>
          <a:solidFill>
            <a:srgbClr val="E6F0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0" y="3200400"/>
            <a:ext cx="21031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003366"/>
                </a:solidFill>
              </a:defRPr>
            </a:pPr>
            <a:r>
              <a:t>Project Manager:</a:t>
            </a:r>
          </a:p>
          <a:p>
            <a:pPr algn="ctr">
              <a:defRPr sz="1400">
                <a:solidFill>
                  <a:srgbClr val="003366"/>
                </a:solidFill>
              </a:defRPr>
            </a:pPr>
            <a:r>
              <a:t>Dr. Muhammad Ilyas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1454</Words>
  <Application>Microsoft Office PowerPoint</Application>
  <PresentationFormat>On-screen Show (4:3)</PresentationFormat>
  <Paragraphs>279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Muhammad Abubakar</cp:lastModifiedBy>
  <cp:revision>3</cp:revision>
  <dcterms:created xsi:type="dcterms:W3CDTF">2013-01-27T09:14:16Z</dcterms:created>
  <dcterms:modified xsi:type="dcterms:W3CDTF">2026-01-07T16:37:14Z</dcterms:modified>
  <cp:category/>
</cp:coreProperties>
</file>